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A8FDC1-37F9-4C24-90E4-BDD313961473}" v="2" dt="2025-07-27T15:48:49.7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rajpoot" userId="5fc353d623fc49e9" providerId="LiveId" clId="{79A8FDC1-37F9-4C24-90E4-BDD313961473}"/>
    <pc:docChg chg="custSel addSld delSld modSld">
      <pc:chgData name="aditya rajpoot" userId="5fc353d623fc49e9" providerId="LiveId" clId="{79A8FDC1-37F9-4C24-90E4-BDD313961473}" dt="2025-07-27T15:48:49.840" v="8" actId="27636"/>
      <pc:docMkLst>
        <pc:docMk/>
      </pc:docMkLst>
      <pc:sldChg chg="addSp new del mod">
        <pc:chgData name="aditya rajpoot" userId="5fc353d623fc49e9" providerId="LiveId" clId="{79A8FDC1-37F9-4C24-90E4-BDD313961473}" dt="2025-07-27T15:48:42.777" v="5" actId="2696"/>
        <pc:sldMkLst>
          <pc:docMk/>
          <pc:sldMk cId="562114002" sldId="256"/>
        </pc:sldMkLst>
        <pc:spChg chg="add">
          <ac:chgData name="aditya rajpoot" userId="5fc353d623fc49e9" providerId="LiveId" clId="{79A8FDC1-37F9-4C24-90E4-BDD313961473}" dt="2025-07-27T15:45:39.338" v="1" actId="22"/>
          <ac:spMkLst>
            <pc:docMk/>
            <pc:sldMk cId="562114002" sldId="256"/>
            <ac:spMk id="5" creationId="{5F0085B1-B49D-DA22-D10B-C993D1293C70}"/>
          </ac:spMkLst>
        </pc:spChg>
      </pc:sldChg>
      <pc:sldChg chg="modSp new mod">
        <pc:chgData name="aditya rajpoot" userId="5fc353d623fc49e9" providerId="LiveId" clId="{79A8FDC1-37F9-4C24-90E4-BDD313961473}" dt="2025-07-27T15:46:00.591" v="4" actId="27636"/>
        <pc:sldMkLst>
          <pc:docMk/>
          <pc:sldMk cId="1025652753" sldId="257"/>
        </pc:sldMkLst>
        <pc:spChg chg="mod">
          <ac:chgData name="aditya rajpoot" userId="5fc353d623fc49e9" providerId="LiveId" clId="{79A8FDC1-37F9-4C24-90E4-BDD313961473}" dt="2025-07-27T15:46:00.591" v="4" actId="27636"/>
          <ac:spMkLst>
            <pc:docMk/>
            <pc:sldMk cId="1025652753" sldId="257"/>
            <ac:spMk id="3" creationId="{84CBCAE1-9206-4585-9CCB-ABD2BD89FC28}"/>
          </ac:spMkLst>
        </pc:spChg>
      </pc:sldChg>
      <pc:sldChg chg="modSp new mod">
        <pc:chgData name="aditya rajpoot" userId="5fc353d623fc49e9" providerId="LiveId" clId="{79A8FDC1-37F9-4C24-90E4-BDD313961473}" dt="2025-07-27T15:48:49.840" v="8" actId="27636"/>
        <pc:sldMkLst>
          <pc:docMk/>
          <pc:sldMk cId="1926590046" sldId="258"/>
        </pc:sldMkLst>
        <pc:spChg chg="mod">
          <ac:chgData name="aditya rajpoot" userId="5fc353d623fc49e9" providerId="LiveId" clId="{79A8FDC1-37F9-4C24-90E4-BDD313961473}" dt="2025-07-27T15:48:49.840" v="8" actId="27636"/>
          <ac:spMkLst>
            <pc:docMk/>
            <pc:sldMk cId="1926590046" sldId="258"/>
            <ac:spMk id="3" creationId="{77DAC4AE-EB4C-BFDF-03B0-51AB8CBF0C5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EAE7E-47FF-EF7E-7A4F-0EED72EC1E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15E2D5F-42D8-BD54-5847-EAF0F5D114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213B0D-4087-12F0-79A6-6516338E2BD8}"/>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5" name="Footer Placeholder 4">
            <a:extLst>
              <a:ext uri="{FF2B5EF4-FFF2-40B4-BE49-F238E27FC236}">
                <a16:creationId xmlns:a16="http://schemas.microsoft.com/office/drawing/2014/main" id="{D2C39220-9E0C-ACED-13D7-9826A3F2B5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6FE744-C881-4369-4AFB-D3539989AE30}"/>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2048497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03741-6D3D-0415-05D1-11B65D29DB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250A59-3052-F2D0-6577-8BA8080C64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EC0680-0D63-DE75-9DFE-D291DD2FE3B7}"/>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5" name="Footer Placeholder 4">
            <a:extLst>
              <a:ext uri="{FF2B5EF4-FFF2-40B4-BE49-F238E27FC236}">
                <a16:creationId xmlns:a16="http://schemas.microsoft.com/office/drawing/2014/main" id="{B76CA1B3-F5F0-A162-995A-103DB6BB55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CFA419-E11A-6A90-2B6C-FF05E05C651A}"/>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896053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30A0E-79E1-B1D2-2337-1D36CFE913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0ECEFB-215C-B622-8E1D-2A700BAACD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A20108-4558-2E6B-7A6B-07CE74335783}"/>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5" name="Footer Placeholder 4">
            <a:extLst>
              <a:ext uri="{FF2B5EF4-FFF2-40B4-BE49-F238E27FC236}">
                <a16:creationId xmlns:a16="http://schemas.microsoft.com/office/drawing/2014/main" id="{CCF5F896-D9BB-6C0C-7819-2332A1837E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501EDD-0C5F-66D4-BEEB-C75BFCE7ED38}"/>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449576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6F9F4-B596-AECE-1DFA-708677C82B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B48613-BA61-1821-9A3E-2415CF72BC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253966-BDC9-28F1-9155-221FF580B2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484EA2B-3E05-5EC2-2655-6510D1D9E759}"/>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6" name="Footer Placeholder 5">
            <a:extLst>
              <a:ext uri="{FF2B5EF4-FFF2-40B4-BE49-F238E27FC236}">
                <a16:creationId xmlns:a16="http://schemas.microsoft.com/office/drawing/2014/main" id="{61B40810-DF5C-60FD-26D5-45FE7973AB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07F860-7A6E-4489-D364-E4216722BF6E}"/>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2456601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DF4ED-4F40-2D7C-AFFC-9B0229109D5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200BE0-07F5-FB2D-BD87-A503198151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4D14EE-988C-1994-67E8-32B3DD8541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E86D56-A951-89D1-1452-39149492E2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313BE8-1EDE-C900-18EF-00CA5A3EB0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386D45F-4E79-7B0C-9863-473C00348969}"/>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8" name="Footer Placeholder 7">
            <a:extLst>
              <a:ext uri="{FF2B5EF4-FFF2-40B4-BE49-F238E27FC236}">
                <a16:creationId xmlns:a16="http://schemas.microsoft.com/office/drawing/2014/main" id="{FCB2F288-83DE-ABC7-BAB8-53CB054A09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5B2111-E19A-3E6E-AAF6-1E061E8A5AD7}"/>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355788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19142-275C-BB09-F94A-5F70398DD94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92F4D3-0CF6-2756-7A86-4A08629A9E15}"/>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4" name="Footer Placeholder 3">
            <a:extLst>
              <a:ext uri="{FF2B5EF4-FFF2-40B4-BE49-F238E27FC236}">
                <a16:creationId xmlns:a16="http://schemas.microsoft.com/office/drawing/2014/main" id="{EB0C48AD-8CE9-9DD7-9659-7B9745647D3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8D5579-DFC3-0414-0B9D-428FA03DF6FB}"/>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279223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165C2B-8941-D334-1790-F8940D6F068A}"/>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3" name="Footer Placeholder 2">
            <a:extLst>
              <a:ext uri="{FF2B5EF4-FFF2-40B4-BE49-F238E27FC236}">
                <a16:creationId xmlns:a16="http://schemas.microsoft.com/office/drawing/2014/main" id="{0AB037C7-6FA9-BFE6-500C-DE31658F33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7ADA345-8047-ED81-2A5F-D4FD114C227D}"/>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533301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2330D-63EB-1C8F-9E7D-2930CA5B32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AFC2C9-E32D-9A6A-E59B-EA76A5F8F5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C3FE023-A0F1-F562-2889-4AC70F7F62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5D735C-F07C-BF99-486C-7FBBCDE3E16D}"/>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6" name="Footer Placeholder 5">
            <a:extLst>
              <a:ext uri="{FF2B5EF4-FFF2-40B4-BE49-F238E27FC236}">
                <a16:creationId xmlns:a16="http://schemas.microsoft.com/office/drawing/2014/main" id="{35FDE842-82AB-BD13-C97E-895D9F6F0E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DACF12-FB89-1DD3-ADCF-75ED997CE69D}"/>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3185387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9CCAF-E9CB-7514-7FDB-F6DB060BCC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84B5915-0177-7568-B8B9-76447E7331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B3DE391-8B1E-B0EF-391C-CA0ECB6BDA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27BC5-657B-197C-780F-00A83E18577C}"/>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6" name="Footer Placeholder 5">
            <a:extLst>
              <a:ext uri="{FF2B5EF4-FFF2-40B4-BE49-F238E27FC236}">
                <a16:creationId xmlns:a16="http://schemas.microsoft.com/office/drawing/2014/main" id="{2F2B12A6-0799-08DA-273B-739EAC706F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D453EA-72AF-57B0-E9D6-8EF1DC92D4C0}"/>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3242466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4A316-8D82-799E-1F55-776A6CA531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5C651D-9CC1-1E81-3D91-CD2877F928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560857-8FEE-6EE6-0EB7-113B814EAC64}"/>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5" name="Footer Placeholder 4">
            <a:extLst>
              <a:ext uri="{FF2B5EF4-FFF2-40B4-BE49-F238E27FC236}">
                <a16:creationId xmlns:a16="http://schemas.microsoft.com/office/drawing/2014/main" id="{EAECA962-C356-2AE4-40C7-CB37BF82A0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338E55-0F28-527F-08C2-1BF28A7F576C}"/>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3628342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AE511F-2088-6AF7-D527-2BA9198B70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735E3F-6D41-3CFC-0D9A-D852AE5F22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8D2D76-DF56-F915-EBA3-2CDA4D32137F}"/>
              </a:ext>
            </a:extLst>
          </p:cNvPr>
          <p:cNvSpPr>
            <a:spLocks noGrp="1"/>
          </p:cNvSpPr>
          <p:nvPr>
            <p:ph type="dt" sz="half" idx="10"/>
          </p:nvPr>
        </p:nvSpPr>
        <p:spPr/>
        <p:txBody>
          <a:bodyPr/>
          <a:lstStyle/>
          <a:p>
            <a:fld id="{1C93AD9D-C088-420D-9B03-EDB1C47AE624}" type="datetimeFigureOut">
              <a:rPr lang="en-IN" smtClean="0"/>
              <a:t>27-07-2025</a:t>
            </a:fld>
            <a:endParaRPr lang="en-IN"/>
          </a:p>
        </p:txBody>
      </p:sp>
      <p:sp>
        <p:nvSpPr>
          <p:cNvPr id="5" name="Footer Placeholder 4">
            <a:extLst>
              <a:ext uri="{FF2B5EF4-FFF2-40B4-BE49-F238E27FC236}">
                <a16:creationId xmlns:a16="http://schemas.microsoft.com/office/drawing/2014/main" id="{646144DF-73BC-784A-3C89-5DBBF7AB16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25170B-1C31-1FCA-BDEA-29CB5EB46AAE}"/>
              </a:ext>
            </a:extLst>
          </p:cNvPr>
          <p:cNvSpPr>
            <a:spLocks noGrp="1"/>
          </p:cNvSpPr>
          <p:nvPr>
            <p:ph type="sldNum" sz="quarter" idx="12"/>
          </p:nvPr>
        </p:nvSpPr>
        <p:spPr/>
        <p:txBody>
          <a:bodyPr/>
          <a:lstStyle/>
          <a:p>
            <a:fld id="{73372837-1DD1-49BC-A08B-288A8D8EFD67}" type="slidenum">
              <a:rPr lang="en-IN" smtClean="0"/>
              <a:t>‹#›</a:t>
            </a:fld>
            <a:endParaRPr lang="en-IN"/>
          </a:p>
        </p:txBody>
      </p:sp>
    </p:spTree>
    <p:extLst>
      <p:ext uri="{BB962C8B-B14F-4D97-AF65-F5344CB8AC3E}">
        <p14:creationId xmlns:p14="http://schemas.microsoft.com/office/powerpoint/2010/main" val="201593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7DAA56-3CF7-EF8C-37EE-2899A5D563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F29D28-21AD-9DC8-2E38-E5CDF27D3E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164159-C544-5247-0282-BFA2F5DF0F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93AD9D-C088-420D-9B03-EDB1C47AE624}" type="datetimeFigureOut">
              <a:rPr lang="en-IN" smtClean="0"/>
              <a:t>27-07-2025</a:t>
            </a:fld>
            <a:endParaRPr lang="en-IN"/>
          </a:p>
        </p:txBody>
      </p:sp>
      <p:sp>
        <p:nvSpPr>
          <p:cNvPr id="5" name="Footer Placeholder 4">
            <a:extLst>
              <a:ext uri="{FF2B5EF4-FFF2-40B4-BE49-F238E27FC236}">
                <a16:creationId xmlns:a16="http://schemas.microsoft.com/office/drawing/2014/main" id="{B8EFD523-0FBE-5531-2DDF-5B96E481BF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547282B-7494-ABDC-DFC1-16C265EB54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372837-1DD1-49BC-A08B-288A8D8EFD67}" type="slidenum">
              <a:rPr lang="en-IN" smtClean="0"/>
              <a:t>‹#›</a:t>
            </a:fld>
            <a:endParaRPr lang="en-IN"/>
          </a:p>
        </p:txBody>
      </p:sp>
    </p:spTree>
    <p:extLst>
      <p:ext uri="{BB962C8B-B14F-4D97-AF65-F5344CB8AC3E}">
        <p14:creationId xmlns:p14="http://schemas.microsoft.com/office/powerpoint/2010/main" val="4265498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586CD-3167-CE03-C2C2-D358CCF5E13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84CBCAE1-9206-4585-9CCB-ABD2BD89FC28}"/>
              </a:ext>
            </a:extLst>
          </p:cNvPr>
          <p:cNvSpPr>
            <a:spLocks noGrp="1"/>
          </p:cNvSpPr>
          <p:nvPr>
            <p:ph idx="1"/>
          </p:nvPr>
        </p:nvSpPr>
        <p:spPr/>
        <p:txBody>
          <a:bodyPr>
            <a:normAutofit fontScale="70000" lnSpcReduction="20000"/>
          </a:bodyPr>
          <a:lstStyle/>
          <a:p>
            <a:r>
              <a:rPr lang="en-US" dirty="0"/>
              <a:t>0.16 is the average </a:t>
            </a:r>
            <a:r>
              <a:rPr lang="en-US" dirty="0" err="1"/>
              <a:t>Delinquent_Account</a:t>
            </a:r>
            <a:r>
              <a:rPr lang="en-US" dirty="0"/>
              <a:t> for all </a:t>
            </a:r>
            <a:r>
              <a:rPr lang="en-US" dirty="0" err="1"/>
              <a:t>Customer_ID</a:t>
            </a:r>
            <a:r>
              <a:rPr lang="en-US" dirty="0"/>
              <a:t>. CUST0002 has the highest average (1.00).</a:t>
            </a:r>
          </a:p>
          <a:p>
            <a:r>
              <a:rPr lang="en-US" dirty="0"/>
              <a:t>84% of all entries (# 420) have average value lower than the total average (0.16), whereas the balance elements have avg more than this</a:t>
            </a:r>
          </a:p>
          <a:p>
            <a:r>
              <a:rPr lang="en-US" dirty="0"/>
              <a:t>If we </a:t>
            </a:r>
            <a:r>
              <a:rPr lang="en-US" dirty="0" err="1"/>
              <a:t>analyse</a:t>
            </a:r>
            <a:r>
              <a:rPr lang="en-US" dirty="0"/>
              <a:t> it with respect to </a:t>
            </a:r>
            <a:r>
              <a:rPr lang="en-US" dirty="0" err="1"/>
              <a:t>Account_Tenure</a:t>
            </a:r>
            <a:r>
              <a:rPr lang="en-US" dirty="0"/>
              <a:t>, then the maximum belongs to 0 with a value of 0.29.</a:t>
            </a:r>
          </a:p>
          <a:p>
            <a:r>
              <a:rPr lang="en-US" dirty="0"/>
              <a:t>Around 52% (#11) have average value more than the total avg( 0.16 ) whereas the balance have less than this.</a:t>
            </a:r>
          </a:p>
          <a:p>
            <a:endParaRPr lang="en-US" dirty="0"/>
          </a:p>
          <a:p>
            <a:endParaRPr lang="en-US" dirty="0"/>
          </a:p>
          <a:p>
            <a:r>
              <a:rPr lang="en-US" dirty="0"/>
              <a:t>Now let's look at </a:t>
            </a:r>
            <a:r>
              <a:rPr lang="en-US" dirty="0" err="1"/>
              <a:t>Missed_Payments</a:t>
            </a:r>
            <a:r>
              <a:rPr lang="en-US" dirty="0"/>
              <a:t>. The average </a:t>
            </a:r>
            <a:r>
              <a:rPr lang="en-US" dirty="0" err="1"/>
              <a:t>Missed_Payments</a:t>
            </a:r>
            <a:r>
              <a:rPr lang="en-US" dirty="0"/>
              <a:t> of all </a:t>
            </a:r>
            <a:r>
              <a:rPr lang="en-US" dirty="0" err="1"/>
              <a:t>Customer_ID</a:t>
            </a:r>
            <a:r>
              <a:rPr lang="en-US" dirty="0"/>
              <a:t> is 2.97. The maximum average belongs to CUST0002 (6.00). Around 58% (#290) have average value more than the total avg( 2.97 ) whereas the balance have less than this.</a:t>
            </a:r>
          </a:p>
          <a:p>
            <a:r>
              <a:rPr lang="en-US" dirty="0"/>
              <a:t>If we </a:t>
            </a:r>
            <a:r>
              <a:rPr lang="en-US" dirty="0" err="1"/>
              <a:t>analyse</a:t>
            </a:r>
            <a:r>
              <a:rPr lang="en-US" dirty="0"/>
              <a:t> the average value with respect to </a:t>
            </a:r>
            <a:r>
              <a:rPr lang="en-US" dirty="0" err="1"/>
              <a:t>Account_Tenure</a:t>
            </a:r>
            <a:r>
              <a:rPr lang="en-US" dirty="0"/>
              <a:t> then the maximum belongs to 2 (value - 3.77).</a:t>
            </a:r>
          </a:p>
          <a:p>
            <a:endParaRPr lang="en-IN" dirty="0"/>
          </a:p>
        </p:txBody>
      </p:sp>
    </p:spTree>
    <p:extLst>
      <p:ext uri="{BB962C8B-B14F-4D97-AF65-F5344CB8AC3E}">
        <p14:creationId xmlns:p14="http://schemas.microsoft.com/office/powerpoint/2010/main" val="102565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3819-7787-9378-70FA-B9A43ABE39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DAC4AE-EB4C-BFDF-03B0-51AB8CBF0C55}"/>
              </a:ext>
            </a:extLst>
          </p:cNvPr>
          <p:cNvSpPr>
            <a:spLocks noGrp="1"/>
          </p:cNvSpPr>
          <p:nvPr>
            <p:ph idx="1"/>
          </p:nvPr>
        </p:nvSpPr>
        <p:spPr/>
        <p:txBody>
          <a:bodyPr>
            <a:normAutofit fontScale="62500" lnSpcReduction="20000"/>
          </a:bodyPr>
          <a:lstStyle/>
          <a:p>
            <a:r>
              <a:rPr lang="en-US" dirty="0"/>
              <a:t>22.92 million is the total </a:t>
            </a:r>
            <a:r>
              <a:rPr lang="en-US" dirty="0" err="1"/>
              <a:t>Loan_Balance</a:t>
            </a:r>
            <a:r>
              <a:rPr lang="en-US" dirty="0"/>
              <a:t> for all Age. 50 has the highest value (853415.00).The top 20 entries make up at least 51% of the total whereas the remaining 38 making up the remaining.</a:t>
            </a:r>
          </a:p>
          <a:p>
            <a:r>
              <a:rPr lang="en-US" dirty="0"/>
              <a:t>The data is spread across several values and the concentration towards the top values is not much.</a:t>
            </a:r>
          </a:p>
          <a:p>
            <a:r>
              <a:rPr lang="en-US" dirty="0" err="1"/>
              <a:t>Analysing</a:t>
            </a:r>
            <a:r>
              <a:rPr lang="en-US" dirty="0"/>
              <a:t> it with respect to </a:t>
            </a:r>
            <a:r>
              <a:rPr lang="en-US" dirty="0" err="1"/>
              <a:t>Employment_Status</a:t>
            </a:r>
            <a:r>
              <a:rPr lang="en-US" dirty="0"/>
              <a:t>, retired has the highest value (4.19M ( 18 %)).</a:t>
            </a:r>
          </a:p>
          <a:p>
            <a:endParaRPr lang="en-US" dirty="0"/>
          </a:p>
          <a:p>
            <a:endParaRPr lang="en-US" dirty="0"/>
          </a:p>
          <a:p>
            <a:r>
              <a:rPr lang="en-US" dirty="0"/>
              <a:t>Let's examine </a:t>
            </a:r>
            <a:r>
              <a:rPr lang="en-US" dirty="0" err="1"/>
              <a:t>Missed_Payments</a:t>
            </a:r>
            <a:r>
              <a:rPr lang="en-US" dirty="0"/>
              <a:t> now. 1484 is the total </a:t>
            </a:r>
            <a:r>
              <a:rPr lang="en-US" dirty="0" err="1"/>
              <a:t>Missed_Payments</a:t>
            </a:r>
            <a:r>
              <a:rPr lang="en-US" dirty="0"/>
              <a:t> for all Age. 50 has the highest value(52.00).The data is spread across several values and the concentration towards the top values is not much. The top 20 entries account for at least 50% whereas the last 38 account for the rest.</a:t>
            </a:r>
          </a:p>
          <a:p>
            <a:r>
              <a:rPr lang="en-US" dirty="0" err="1"/>
              <a:t>Missed_Payments</a:t>
            </a:r>
            <a:r>
              <a:rPr lang="en-US" dirty="0"/>
              <a:t> is very highly correlated to </a:t>
            </a:r>
            <a:r>
              <a:rPr lang="en-US" dirty="0" err="1"/>
              <a:t>Loan_Balance</a:t>
            </a:r>
            <a:r>
              <a:rPr lang="en-US" dirty="0"/>
              <a:t> with respect to Age.</a:t>
            </a:r>
          </a:p>
          <a:p>
            <a:r>
              <a:rPr lang="en-US" dirty="0"/>
              <a:t>If we </a:t>
            </a:r>
            <a:r>
              <a:rPr lang="en-US" dirty="0" err="1"/>
              <a:t>analyse</a:t>
            </a:r>
            <a:r>
              <a:rPr lang="en-US" dirty="0"/>
              <a:t> it with respect to </a:t>
            </a:r>
            <a:r>
              <a:rPr lang="en-US" dirty="0" err="1"/>
              <a:t>Employment_Status</a:t>
            </a:r>
            <a:r>
              <a:rPr lang="en-US" dirty="0"/>
              <a:t> then the maximum belongs to retired (value - 257 ( 17 %)).</a:t>
            </a:r>
          </a:p>
          <a:p>
            <a:r>
              <a:rPr lang="en-US" dirty="0" err="1"/>
              <a:t>Missed_Payments</a:t>
            </a:r>
            <a:r>
              <a:rPr lang="en-US" dirty="0"/>
              <a:t> and </a:t>
            </a:r>
            <a:r>
              <a:rPr lang="en-US" dirty="0" err="1"/>
              <a:t>Loan_Balance</a:t>
            </a:r>
            <a:r>
              <a:rPr lang="en-US" dirty="0"/>
              <a:t> seem to have a slight positive correlation with respect to </a:t>
            </a:r>
            <a:r>
              <a:rPr lang="en-US" dirty="0" err="1"/>
              <a:t>Employment_Status</a:t>
            </a:r>
            <a:r>
              <a:rPr lang="en-US"/>
              <a:t> but it's not sufficient to draw any conclusion.</a:t>
            </a:r>
          </a:p>
          <a:p>
            <a:endParaRPr lang="en-IN"/>
          </a:p>
        </p:txBody>
      </p:sp>
    </p:spTree>
    <p:extLst>
      <p:ext uri="{BB962C8B-B14F-4D97-AF65-F5344CB8AC3E}">
        <p14:creationId xmlns:p14="http://schemas.microsoft.com/office/powerpoint/2010/main" val="1926590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385</Words>
  <Application>Microsoft Office PowerPoint</Application>
  <PresentationFormat>Widescreen</PresentationFormat>
  <Paragraphs>17</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rajpoot</dc:creator>
  <cp:lastModifiedBy>aditya rajpoot</cp:lastModifiedBy>
  <cp:revision>1</cp:revision>
  <dcterms:created xsi:type="dcterms:W3CDTF">2025-05-20T18:49:44Z</dcterms:created>
  <dcterms:modified xsi:type="dcterms:W3CDTF">2025-07-27T15:48:53Z</dcterms:modified>
</cp:coreProperties>
</file>